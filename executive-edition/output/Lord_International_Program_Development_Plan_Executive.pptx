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640080" y="1645920"/>
            <a:ext cx="7863840" cy="640080"/>
          </a:xfrm>
          <a:prstGeom prst="rect">
            <a:avLst/>
          </a:prstGeom>
          <a:noFill/>
        </p:spPr>
        <p:txBody>
          <a:bodyPr wrap="square">
            <a:spAutoFit/>
          </a:bodyPr>
          <a:lstStyle/>
          <a:p>
            <a:pPr algn="ctr" rtl="1"/>
            <a:r>
              <a:rPr sz="3200" b="1">
                <a:solidFill>
                  <a:srgbClr val="8B1E2D"/>
                </a:solidFill>
                <a:latin typeface="Amiri"/>
              </a:rPr>
              <a:t>مدرسة اللورد</a:t>
            </a:r>
          </a:p>
        </p:txBody>
      </p:sp>
      <p:sp>
        <p:nvSpPr>
          <p:cNvPr id="14" name="TextBox 13"/>
          <p:cNvSpPr txBox="1"/>
          <p:nvPr/>
        </p:nvSpPr>
        <p:spPr>
          <a:xfrm>
            <a:off x="640080" y="2331720"/>
            <a:ext cx="7863840" cy="502920"/>
          </a:xfrm>
          <a:prstGeom prst="rect">
            <a:avLst/>
          </a:prstGeom>
          <a:noFill/>
        </p:spPr>
        <p:txBody>
          <a:bodyPr wrap="square">
            <a:spAutoFit/>
          </a:bodyPr>
          <a:lstStyle/>
          <a:p>
            <a:pPr algn="ctr" rtl="1"/>
            <a:r>
              <a:rPr sz="2200" b="1">
                <a:solidFill>
                  <a:srgbClr val="B68A3A"/>
                </a:solidFill>
                <a:latin typeface="Amiri"/>
              </a:rPr>
              <a:t>مقترح تطوير البرنامج الدولي</a:t>
            </a:r>
          </a:p>
        </p:txBody>
      </p:sp>
      <p:sp>
        <p:nvSpPr>
          <p:cNvPr id="15" name="TextBox 14"/>
          <p:cNvSpPr txBox="1"/>
          <p:nvPr/>
        </p:nvSpPr>
        <p:spPr>
          <a:xfrm>
            <a:off x="640080" y="2880360"/>
            <a:ext cx="7863840" cy="365760"/>
          </a:xfrm>
          <a:prstGeom prst="rect">
            <a:avLst/>
          </a:prstGeom>
          <a:noFill/>
        </p:spPr>
        <p:txBody>
          <a:bodyPr wrap="square">
            <a:spAutoFit/>
          </a:bodyPr>
          <a:lstStyle/>
          <a:p>
            <a:pPr algn="ctr" rtl="1"/>
            <a:r>
              <a:rPr sz="1600" b="0">
                <a:solidFill>
                  <a:srgbClr val="232323"/>
                </a:solidFill>
                <a:latin typeface="Amiri"/>
              </a:rPr>
              <a:t>وخطة النمو الاستراتيجية لخمس سنوات</a:t>
            </a:r>
          </a:p>
        </p:txBody>
      </p:sp>
      <p:sp>
        <p:nvSpPr>
          <p:cNvPr id="16" name="TextBox 15"/>
          <p:cNvSpPr txBox="1"/>
          <p:nvPr/>
        </p:nvSpPr>
        <p:spPr>
          <a:xfrm>
            <a:off x="640080" y="3246120"/>
            <a:ext cx="7863840" cy="365760"/>
          </a:xfrm>
          <a:prstGeom prst="rect">
            <a:avLst/>
          </a:prstGeom>
          <a:noFill/>
        </p:spPr>
        <p:txBody>
          <a:bodyPr wrap="square">
            <a:spAutoFit/>
          </a:bodyPr>
          <a:lstStyle/>
          <a:p>
            <a:pPr algn="ctr" rtl="1"/>
            <a:r>
              <a:rPr sz="1500" b="1">
                <a:solidFill>
                  <a:srgbClr val="8B1E2D"/>
                </a:solidFill>
                <a:latin typeface="Amiri"/>
              </a:rPr>
              <a:t>مع التركيز التنفيذي على السنة الأولى</a:t>
            </a:r>
          </a:p>
        </p:txBody>
      </p:sp>
      <p:sp>
        <p:nvSpPr>
          <p:cNvPr id="17" name="TextBox 16"/>
          <p:cNvSpPr txBox="1"/>
          <p:nvPr/>
        </p:nvSpPr>
        <p:spPr>
          <a:xfrm>
            <a:off x="640080" y="4023360"/>
            <a:ext cx="7863840" cy="320040"/>
          </a:xfrm>
          <a:prstGeom prst="rect">
            <a:avLst/>
          </a:prstGeom>
          <a:noFill/>
        </p:spPr>
        <p:txBody>
          <a:bodyPr wrap="square">
            <a:spAutoFit/>
          </a:bodyPr>
          <a:lstStyle/>
          <a:p>
            <a:pPr algn="ctr" rtl="1"/>
            <a:r>
              <a:rPr sz="1400" b="0">
                <a:solidFill>
                  <a:srgbClr val="232323"/>
                </a:solidFill>
                <a:latin typeface="Amiri"/>
              </a:rPr>
              <a:t>إعداد: الأستاذ وسيم اللبدي</a:t>
            </a:r>
          </a:p>
        </p:txBody>
      </p:sp>
      <p:sp>
        <p:nvSpPr>
          <p:cNvPr id="18" name="TextBox 17"/>
          <p:cNvSpPr txBox="1"/>
          <p:nvPr/>
        </p:nvSpPr>
        <p:spPr>
          <a:xfrm>
            <a:off x="640080" y="4389120"/>
            <a:ext cx="7863840" cy="365760"/>
          </a:xfrm>
          <a:prstGeom prst="rect">
            <a:avLst/>
          </a:prstGeom>
          <a:noFill/>
        </p:spPr>
        <p:txBody>
          <a:bodyPr wrap="square">
            <a:spAutoFit/>
          </a:bodyPr>
          <a:lstStyle/>
          <a:p>
            <a:pPr algn="ctr" rtl="1"/>
            <a:r>
              <a:rPr sz="1200" b="0">
                <a:solidFill>
                  <a:srgbClr val="666666"/>
                </a:solidFill>
                <a:latin typeface="Amiri"/>
              </a:rPr>
              <a:t>مدير البرنامج الدولي المقترح - مؤسس شركة النجاح الأكيد</a:t>
            </a:r>
          </a:p>
        </p:txBody>
      </p:sp>
      <p:sp>
        <p:nvSpPr>
          <p:cNvPr id="19" name="TextBox 18"/>
          <p:cNvSpPr txBox="1"/>
          <p:nvPr/>
        </p:nvSpPr>
        <p:spPr>
          <a:xfrm>
            <a:off x="640080" y="5120640"/>
            <a:ext cx="7863840" cy="457200"/>
          </a:xfrm>
          <a:prstGeom prst="rect">
            <a:avLst/>
          </a:prstGeom>
          <a:noFill/>
        </p:spPr>
        <p:txBody>
          <a:bodyPr wrap="square">
            <a:spAutoFit/>
          </a:bodyPr>
          <a:lstStyle/>
          <a:p>
            <a:pPr algn="ctr" rtl="1"/>
            <a:r>
              <a:rPr sz="1100" b="0">
                <a:solidFill>
                  <a:srgbClr val="666666"/>
                </a:solidFill>
                <a:latin typeface="Amiri"/>
              </a:rPr>
              <a:t>وثيقة عمل أولية مبنية على المعلومات التقديرية والملاحظات الميدانية المتاحة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365760"/>
          </a:xfrm>
          <a:prstGeom prst="rect">
            <a:avLst/>
          </a:prstGeom>
          <a:noFill/>
        </p:spPr>
        <p:txBody>
          <a:bodyPr wrap="square">
            <a:spAutoFit/>
          </a:bodyPr>
          <a:lstStyle/>
          <a:p>
            <a:pPr algn="r" rtl="1"/>
            <a:r>
              <a:rPr sz="1800" b="1">
                <a:solidFill>
                  <a:srgbClr val="8B1E2D"/>
                </a:solidFill>
                <a:latin typeface="Amiri"/>
              </a:rPr>
              <a:t>1. الوضع التقريبي الحالي للمدرسة</a:t>
            </a:r>
          </a:p>
        </p:txBody>
      </p:sp>
      <p:sp>
        <p:nvSpPr>
          <p:cNvPr id="14" name="TextBox 13"/>
          <p:cNvSpPr txBox="1"/>
          <p:nvPr/>
        </p:nvSpPr>
        <p:spPr>
          <a:xfrm>
            <a:off x="502920" y="1097280"/>
            <a:ext cx="8138160" cy="502920"/>
          </a:xfrm>
          <a:prstGeom prst="rect">
            <a:avLst/>
          </a:prstGeom>
          <a:noFill/>
        </p:spPr>
        <p:txBody>
          <a:bodyPr wrap="square">
            <a:spAutoFit/>
          </a:bodyPr>
          <a:lstStyle/>
          <a:p>
            <a:pPr algn="r" rtl="1"/>
            <a:r>
              <a:rPr sz="1300" b="0">
                <a:solidFill>
                  <a:srgbClr val="232323"/>
                </a:solidFill>
                <a:latin typeface="Amiri"/>
              </a:rPr>
              <a:t>تمتلك مدرسة اللورد قاعدة مناسبة للنمو والتطوير، إلا أن الاستفادة الحالية من طاقتها الاستيعابية ما تزال أقل من الإمكانات المتاحة.</a:t>
            </a:r>
          </a:p>
        </p:txBody>
      </p:sp>
      <p:sp>
        <p:nvSpPr>
          <p:cNvPr id="15" name="TextBox 14"/>
          <p:cNvSpPr txBox="1"/>
          <p:nvPr/>
        </p:nvSpPr>
        <p:spPr>
          <a:xfrm>
            <a:off x="502920" y="1600200"/>
            <a:ext cx="8138160" cy="502920"/>
          </a:xfrm>
          <a:prstGeom prst="rect">
            <a:avLst/>
          </a:prstGeom>
          <a:noFill/>
        </p:spPr>
        <p:txBody>
          <a:bodyPr wrap="square">
            <a:spAutoFit/>
          </a:bodyPr>
          <a:lstStyle/>
          <a:p>
            <a:pPr algn="r" rtl="1"/>
            <a:r>
              <a:rPr sz="1300" b="0">
                <a:solidFill>
                  <a:srgbClr val="232323"/>
                </a:solidFill>
                <a:latin typeface="Amiri"/>
              </a:rPr>
              <a:t>الأرقام الواردة أدناه تقديرية وتحتاج إلى مطابقتها لاحقاً مع السجلات الرسمية للمدرسة.</a:t>
            </a:r>
          </a:p>
        </p:txBody>
      </p:sp>
      <p:sp>
        <p:nvSpPr>
          <p:cNvPr id="16" name="TextBox 15"/>
          <p:cNvSpPr txBox="1"/>
          <p:nvPr/>
        </p:nvSpPr>
        <p:spPr>
          <a:xfrm>
            <a:off x="502920" y="2148839"/>
            <a:ext cx="8138160" cy="320040"/>
          </a:xfrm>
          <a:prstGeom prst="rect">
            <a:avLst/>
          </a:prstGeom>
          <a:noFill/>
        </p:spPr>
        <p:txBody>
          <a:bodyPr wrap="square">
            <a:spAutoFit/>
          </a:bodyPr>
          <a:lstStyle/>
          <a:p>
            <a:pPr algn="r" rtl="1"/>
            <a:r>
              <a:rPr sz="1400" b="1">
                <a:solidFill>
                  <a:srgbClr val="8B1E2D"/>
                </a:solidFill>
                <a:latin typeface="Amiri"/>
              </a:rPr>
              <a:t>ملخص الوضع الحالي</a:t>
            </a:r>
          </a:p>
        </p:txBody>
      </p:sp>
      <p:sp>
        <p:nvSpPr>
          <p:cNvPr id="17" name="TextBox 16"/>
          <p:cNvSpPr txBox="1"/>
          <p:nvPr/>
        </p:nvSpPr>
        <p:spPr>
          <a:xfrm>
            <a:off x="502920" y="2468879"/>
            <a:ext cx="8138160" cy="3840480"/>
          </a:xfrm>
          <a:prstGeom prst="rect">
            <a:avLst/>
          </a:prstGeom>
          <a:noFill/>
        </p:spPr>
        <p:txBody>
          <a:bodyPr wrap="square">
            <a:spAutoFit/>
          </a:bodyPr>
          <a:lstStyle/>
          <a:p>
            <a:pPr algn="r" rtl="1">
              <a:spcAft>
                <a:spcPts val="400"/>
              </a:spcAft>
            </a:pPr>
            <a:r>
              <a:rPr sz="1200">
                <a:solidFill>
                  <a:srgbClr val="232323"/>
                </a:solidFill>
                <a:latin typeface="Amiri"/>
              </a:rPr>
              <a:t>• الطاقة الاستيعابية التقديرية: نحو 650 طالباً.</a:t>
            </a:r>
          </a:p>
          <a:p>
            <a:pPr algn="r" rtl="1">
              <a:spcAft>
                <a:spcPts val="400"/>
              </a:spcAft>
            </a:pPr>
            <a:r>
              <a:rPr sz="1200">
                <a:solidFill>
                  <a:srgbClr val="232323"/>
                </a:solidFill>
                <a:latin typeface="Amiri"/>
              </a:rPr>
              <a:t>• عدد الطلبة الحالي التقريبي: نحو 300 طالب، أي إشغال يقارب 46%.</a:t>
            </a:r>
          </a:p>
          <a:p>
            <a:pPr algn="r" rtl="1">
              <a:spcAft>
                <a:spcPts val="400"/>
              </a:spcAft>
            </a:pPr>
            <a:r>
              <a:rPr sz="1200">
                <a:solidFill>
                  <a:srgbClr val="232323"/>
                </a:solidFill>
                <a:latin typeface="Amiri"/>
              </a:rPr>
              <a:t>• متوسط الرسوم السنوية التقديري: نحو 3,000 دينار للطالب، مع افتراض تحصيل فعلي يقارب 80%.</a:t>
            </a:r>
          </a:p>
          <a:p>
            <a:pPr algn="r" rtl="1">
              <a:spcAft>
                <a:spcPts val="400"/>
              </a:spcAft>
            </a:pPr>
            <a:r>
              <a:rPr sz="1200">
                <a:solidFill>
                  <a:srgbClr val="232323"/>
                </a:solidFill>
                <a:latin typeface="Amiri"/>
              </a:rPr>
              <a:t>• نحو 70% من الطلبة يستخدمون النقل المدرسي، ومتوسط الرسوم بين 200 و 300 دينار للفصل.</a:t>
            </a:r>
          </a:p>
          <a:p>
            <a:pPr algn="r" rtl="1">
              <a:spcAft>
                <a:spcPts val="400"/>
              </a:spcAft>
            </a:pPr>
            <a:r>
              <a:rPr sz="1200">
                <a:solidFill>
                  <a:srgbClr val="232323"/>
                </a:solidFill>
                <a:latin typeface="Amiri"/>
              </a:rPr>
              <a:t>• المدرسة تملك فرصة واضحة للنمو من خلال رفع جودة البرنامج الدولي، تحسين البيئة التعليمية، وتنفيذ تسويق متخصص.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365760"/>
          </a:xfrm>
          <a:prstGeom prst="rect">
            <a:avLst/>
          </a:prstGeom>
          <a:noFill/>
        </p:spPr>
        <p:txBody>
          <a:bodyPr wrap="square">
            <a:spAutoFit/>
          </a:bodyPr>
          <a:lstStyle/>
          <a:p>
            <a:pPr algn="r" rtl="1"/>
            <a:r>
              <a:rPr sz="1800" b="1">
                <a:solidFill>
                  <a:srgbClr val="8B1E2D"/>
                </a:solidFill>
                <a:latin typeface="Amiri"/>
              </a:rPr>
              <a:t>2. الإيجابيات والفرص المتاحة</a:t>
            </a:r>
          </a:p>
        </p:txBody>
      </p:sp>
      <p:sp>
        <p:nvSpPr>
          <p:cNvPr id="14" name="TextBox 13"/>
          <p:cNvSpPr txBox="1"/>
          <p:nvPr/>
        </p:nvSpPr>
        <p:spPr>
          <a:xfrm>
            <a:off x="502920" y="1143000"/>
            <a:ext cx="8138160" cy="5029200"/>
          </a:xfrm>
          <a:prstGeom prst="rect">
            <a:avLst/>
          </a:prstGeom>
          <a:noFill/>
        </p:spPr>
        <p:txBody>
          <a:bodyPr wrap="square">
            <a:spAutoFit/>
          </a:bodyPr>
          <a:lstStyle/>
          <a:p>
            <a:pPr algn="r" rtl="1">
              <a:spcAft>
                <a:spcPts val="400"/>
              </a:spcAft>
            </a:pPr>
            <a:r>
              <a:rPr sz="1300">
                <a:solidFill>
                  <a:srgbClr val="232323"/>
                </a:solidFill>
                <a:latin typeface="Amiri"/>
              </a:rPr>
              <a:t>• قدرة استيعابية جيدة تسمح بالنمو دون الحاجة الفورية إلى مبنى جديد.</a:t>
            </a:r>
          </a:p>
          <a:p>
            <a:pPr algn="r" rtl="1">
              <a:spcAft>
                <a:spcPts val="400"/>
              </a:spcAft>
            </a:pPr>
            <a:r>
              <a:rPr sz="1300">
                <a:solidFill>
                  <a:srgbClr val="232323"/>
                </a:solidFill>
                <a:latin typeface="Amiri"/>
              </a:rPr>
              <a:t>• وجود مدرسة قائمة واسم يمكن البناء عليه بدلاً من البدء من الصفر.</a:t>
            </a:r>
          </a:p>
          <a:p>
            <a:pPr algn="r" rtl="1">
              <a:spcAft>
                <a:spcPts val="400"/>
              </a:spcAft>
            </a:pPr>
            <a:r>
              <a:rPr sz="1300">
                <a:solidFill>
                  <a:srgbClr val="232323"/>
                </a:solidFill>
                <a:latin typeface="Amiri"/>
              </a:rPr>
              <a:t>• إمكانية تطوير البرنامج الدولي ليصبح عامل الجذب الأساسي للطلبة وأولياء الأمور.</a:t>
            </a:r>
          </a:p>
          <a:p>
            <a:pPr algn="r" rtl="1">
              <a:spcAft>
                <a:spcPts val="400"/>
              </a:spcAft>
            </a:pPr>
            <a:r>
              <a:rPr sz="1300">
                <a:solidFill>
                  <a:srgbClr val="232323"/>
                </a:solidFill>
                <a:latin typeface="Amiri"/>
              </a:rPr>
              <a:t>• إمكانية إضافة برامج أجنبية جديدة وفق حاجة السوق واحتياجات الطلبة.</a:t>
            </a:r>
          </a:p>
          <a:p>
            <a:pPr algn="r" rtl="1">
              <a:spcAft>
                <a:spcPts val="400"/>
              </a:spcAft>
            </a:pPr>
            <a:r>
              <a:rPr sz="1300">
                <a:solidFill>
                  <a:srgbClr val="232323"/>
                </a:solidFill>
                <a:latin typeface="Amiri"/>
              </a:rPr>
              <a:t>• قابلية المدرسة للتحول إلى مركز للامتحانات الدولية بعد استيفاء المتطلبات الرسمية.</a:t>
            </a:r>
          </a:p>
          <a:p>
            <a:pPr algn="r" rtl="1">
              <a:spcAft>
                <a:spcPts val="400"/>
              </a:spcAft>
            </a:pPr>
            <a:r>
              <a:rPr sz="1300">
                <a:solidFill>
                  <a:srgbClr val="232323"/>
                </a:solidFill>
                <a:latin typeface="Amiri"/>
              </a:rPr>
              <a:t>• إمكانية التكامل مع شركة النجاح الأكيد ومنصتها التعليمية وخبراتها في البرامج الدولية.</a:t>
            </a:r>
          </a:p>
          <a:p>
            <a:pPr algn="r" rtl="1">
              <a:spcAft>
                <a:spcPts val="400"/>
              </a:spcAft>
            </a:pPr>
            <a:r>
              <a:rPr sz="1300">
                <a:solidFill>
                  <a:srgbClr val="232323"/>
                </a:solidFill>
                <a:latin typeface="Amiri"/>
              </a:rPr>
              <a:t>• فرصة لتطوير علاقة قوية مع الجامعات المحلية والدولية وخدمات القبول والدراسة في الخارج.</a:t>
            </a:r>
          </a:p>
          <a:p>
            <a:pPr algn="r" rtl="1">
              <a:spcAft>
                <a:spcPts val="400"/>
              </a:spcAft>
            </a:pPr>
            <a:r>
              <a:rPr sz="1300">
                <a:solidFill>
                  <a:srgbClr val="232323"/>
                </a:solidFill>
                <a:latin typeface="Amiri"/>
              </a:rPr>
              <a:t>• وجود مساحة نمو كبيرة في التسجيل، خصوصاً في الصفوف 10 و 11 و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365760"/>
          </a:xfrm>
          <a:prstGeom prst="rect">
            <a:avLst/>
          </a:prstGeom>
          <a:noFill/>
        </p:spPr>
        <p:txBody>
          <a:bodyPr wrap="square">
            <a:spAutoFit/>
          </a:bodyPr>
          <a:lstStyle/>
          <a:p>
            <a:pPr algn="r" rtl="1"/>
            <a:r>
              <a:rPr sz="1800" b="1">
                <a:solidFill>
                  <a:srgbClr val="8B1E2D"/>
                </a:solidFill>
                <a:latin typeface="Amiri"/>
              </a:rPr>
              <a:t>3. السلبيات والتحديات التي تحتاج إلى معالجة</a:t>
            </a:r>
          </a:p>
        </p:txBody>
      </p:sp>
      <p:sp>
        <p:nvSpPr>
          <p:cNvPr id="14" name="TextBox 13"/>
          <p:cNvSpPr txBox="1"/>
          <p:nvPr/>
        </p:nvSpPr>
        <p:spPr>
          <a:xfrm>
            <a:off x="502920" y="1097280"/>
            <a:ext cx="8138160" cy="640080"/>
          </a:xfrm>
          <a:prstGeom prst="rect">
            <a:avLst/>
          </a:prstGeom>
          <a:noFill/>
        </p:spPr>
        <p:txBody>
          <a:bodyPr wrap="square">
            <a:spAutoFit/>
          </a:bodyPr>
          <a:lstStyle/>
          <a:p>
            <a:pPr algn="r" rtl="1"/>
            <a:r>
              <a:rPr sz="1200" b="0">
                <a:solidFill>
                  <a:srgbClr val="232323"/>
                </a:solidFill>
                <a:latin typeface="Amiri"/>
              </a:rPr>
              <a:t>هذه الملاحظات لا تهدف إلى انتقاد المدرسة، بل إلى تحديد الأولويات التي تؤثر مباشرة في صورة البرنامج الدولي وتجربة الطالب وولي الأمر.</a:t>
            </a:r>
          </a:p>
        </p:txBody>
      </p:sp>
      <p:sp>
        <p:nvSpPr>
          <p:cNvPr id="15" name="TextBox 14"/>
          <p:cNvSpPr txBox="1"/>
          <p:nvPr/>
        </p:nvSpPr>
        <p:spPr>
          <a:xfrm>
            <a:off x="502920" y="1783080"/>
            <a:ext cx="8138160" cy="4389120"/>
          </a:xfrm>
          <a:prstGeom prst="rect">
            <a:avLst/>
          </a:prstGeom>
          <a:noFill/>
        </p:spPr>
        <p:txBody>
          <a:bodyPr wrap="square">
            <a:spAutoFit/>
          </a:bodyPr>
          <a:lstStyle/>
          <a:p>
            <a:pPr algn="r" rtl="1">
              <a:spcAft>
                <a:spcPts val="400"/>
              </a:spcAft>
            </a:pPr>
            <a:r>
              <a:rPr sz="1200">
                <a:solidFill>
                  <a:srgbClr val="232323"/>
                </a:solidFill>
                <a:latin typeface="Amiri"/>
              </a:rPr>
              <a:t>• بعض الصفوف تحتاج إلى دهان وتجديد بصري يعطي انطباعاً تعليمياً أفضل.</a:t>
            </a:r>
          </a:p>
          <a:p>
            <a:pPr algn="r" rtl="1">
              <a:spcAft>
                <a:spcPts val="400"/>
              </a:spcAft>
            </a:pPr>
            <a:r>
              <a:rPr sz="1200">
                <a:solidFill>
                  <a:srgbClr val="232323"/>
                </a:solidFill>
                <a:latin typeface="Amiri"/>
              </a:rPr>
              <a:t>• الحاجة إلى تركيب بلاط إسفنجي في الصفوف والمناطق التي تتطلب حماية إضافية.</a:t>
            </a:r>
          </a:p>
          <a:p>
            <a:pPr algn="r" rtl="1">
              <a:spcAft>
                <a:spcPts val="400"/>
              </a:spcAft>
            </a:pPr>
            <a:r>
              <a:rPr sz="1200">
                <a:solidFill>
                  <a:srgbClr val="232323"/>
                </a:solidFill>
                <a:latin typeface="Amiri"/>
              </a:rPr>
              <a:t>• الحاجة إلى شاشات تعليمية حديثة وخزائن مناسبة داخل الصفوف.</a:t>
            </a:r>
          </a:p>
          <a:p>
            <a:pPr algn="r" rtl="1">
              <a:spcAft>
                <a:spcPts val="400"/>
              </a:spcAft>
            </a:pPr>
            <a:r>
              <a:rPr sz="1200">
                <a:solidFill>
                  <a:srgbClr val="232323"/>
                </a:solidFill>
                <a:latin typeface="Amiri"/>
              </a:rPr>
              <a:t>• ضرورة تنظيم طريقة وضع الشاشة بجانب السبورة البيضاء حتى يتمكن المعلم من استخدام الوسيلتين معاً بكفاءة.</a:t>
            </a:r>
          </a:p>
          <a:p>
            <a:pPr algn="r" rtl="1">
              <a:spcAft>
                <a:spcPts val="400"/>
              </a:spcAft>
            </a:pPr>
            <a:r>
              <a:rPr sz="1200">
                <a:solidFill>
                  <a:srgbClr val="232323"/>
                </a:solidFill>
                <a:latin typeface="Amiri"/>
              </a:rPr>
              <a:t>• بعض الحمامات تحتاج إلى استكمال الأبواب وأعمال الصيانة الأساسية.</a:t>
            </a:r>
          </a:p>
          <a:p>
            <a:pPr algn="r" rtl="1">
              <a:spcAft>
                <a:spcPts val="400"/>
              </a:spcAft>
            </a:pPr>
            <a:r>
              <a:rPr sz="1200">
                <a:solidFill>
                  <a:srgbClr val="232323"/>
                </a:solidFill>
                <a:latin typeface="Amiri"/>
              </a:rPr>
              <a:t>• الحاجة إلى تعزيز السلامة على الدرج، خصوصاً الحواجز والإشارات ومناطق الحركة.</a:t>
            </a:r>
          </a:p>
          <a:p>
            <a:pPr algn="r" rtl="1">
              <a:spcAft>
                <a:spcPts val="400"/>
              </a:spcAft>
            </a:pPr>
            <a:r>
              <a:rPr sz="1200">
                <a:solidFill>
                  <a:srgbClr val="232323"/>
                </a:solidFill>
                <a:latin typeface="Amiri"/>
              </a:rPr>
              <a:t>• المختبرات تحتاج إلى تجهيز فعلي بالأدوات والمواد والأجهزة اللازمة للبرامج الدولية.</a:t>
            </a:r>
          </a:p>
          <a:p>
            <a:pPr algn="r" rtl="1">
              <a:spcAft>
                <a:spcPts val="400"/>
              </a:spcAft>
            </a:pPr>
            <a:r>
              <a:rPr sz="1200">
                <a:solidFill>
                  <a:srgbClr val="232323"/>
                </a:solidFill>
                <a:latin typeface="Amiri"/>
              </a:rPr>
              <a:t>• إعادة ترتيب الصفوف وتوزيعها حسب المراحل والبرامج لتقليل التشويش وتحسين الحركة.</a:t>
            </a:r>
          </a:p>
          <a:p>
            <a:pPr algn="r" rtl="1">
              <a:spcAft>
                <a:spcPts val="400"/>
              </a:spcAft>
            </a:pPr>
            <a:r>
              <a:rPr sz="1200">
                <a:solidFill>
                  <a:srgbClr val="232323"/>
                </a:solidFill>
                <a:latin typeface="Amiri"/>
              </a:rPr>
              <a:t>• الحاجة إلى هوية واضحة للبرنامج الدولي وتسويق متخصص وليس تسويقاً عاماً فقط.</a:t>
            </a:r>
          </a:p>
          <a:p>
            <a:pPr algn="r" rtl="1">
              <a:spcAft>
                <a:spcPts val="400"/>
              </a:spcAft>
            </a:pPr>
            <a:r>
              <a:rPr sz="1200">
                <a:solidFill>
                  <a:srgbClr val="232323"/>
                </a:solidFill>
                <a:latin typeface="Amiri"/>
              </a:rPr>
              <a:t>• الحاجة إلى نظام ثابت لمتابعة المعلمين والطلبة والتواصل مع أولياء الأمور.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365760"/>
          </a:xfrm>
          <a:prstGeom prst="rect">
            <a:avLst/>
          </a:prstGeom>
          <a:noFill/>
        </p:spPr>
        <p:txBody>
          <a:bodyPr wrap="square">
            <a:spAutoFit/>
          </a:bodyPr>
          <a:lstStyle/>
          <a:p>
            <a:pPr algn="r" rtl="1"/>
            <a:r>
              <a:rPr sz="1600" b="1">
                <a:solidFill>
                  <a:srgbClr val="8B1E2D"/>
                </a:solidFill>
                <a:latin typeface="Amiri"/>
              </a:rPr>
              <a:t>4. دور شركة النجاح الأكيد ممثلة بالأستاذ وسيم اللبدي</a:t>
            </a:r>
          </a:p>
        </p:txBody>
      </p:sp>
      <p:sp>
        <p:nvSpPr>
          <p:cNvPr id="14" name="TextBox 13"/>
          <p:cNvSpPr txBox="1"/>
          <p:nvPr/>
        </p:nvSpPr>
        <p:spPr>
          <a:xfrm>
            <a:off x="502920" y="1097280"/>
            <a:ext cx="8138160" cy="777240"/>
          </a:xfrm>
          <a:prstGeom prst="rect">
            <a:avLst/>
          </a:prstGeom>
          <a:noFill/>
        </p:spPr>
        <p:txBody>
          <a:bodyPr wrap="square">
            <a:spAutoFit/>
          </a:bodyPr>
          <a:lstStyle/>
          <a:p>
            <a:pPr algn="r" rtl="1"/>
            <a:r>
              <a:rPr sz="1200" b="0">
                <a:solidFill>
                  <a:srgbClr val="232323"/>
                </a:solidFill>
                <a:latin typeface="Amiri"/>
              </a:rPr>
              <a:t>سيكون دوري الأساسي مديراً للبرنامج الدولي، على أن تعمل شركة النجاح الأكيد كشريك تطوير أكاديمي وتسويقي وتقني يدعم المدرسة في معالجة التحديات السابقة ضمن الصلاحيات والاتفاقات المعتمدة.</a:t>
            </a:r>
          </a:p>
        </p:txBody>
      </p:sp>
      <p:sp>
        <p:nvSpPr>
          <p:cNvPr id="15" name="TextBox 14"/>
          <p:cNvSpPr txBox="1"/>
          <p:nvPr/>
        </p:nvSpPr>
        <p:spPr>
          <a:xfrm>
            <a:off x="502920" y="1920240"/>
            <a:ext cx="8138160" cy="4206240"/>
          </a:xfrm>
          <a:prstGeom prst="rect">
            <a:avLst/>
          </a:prstGeom>
          <a:noFill/>
        </p:spPr>
        <p:txBody>
          <a:bodyPr wrap="square">
            <a:spAutoFit/>
          </a:bodyPr>
          <a:lstStyle/>
          <a:p>
            <a:pPr algn="r" rtl="1">
              <a:spcAft>
                <a:spcPts val="400"/>
              </a:spcAft>
            </a:pPr>
            <a:r>
              <a:rPr sz="1200">
                <a:solidFill>
                  <a:srgbClr val="232323"/>
                </a:solidFill>
                <a:latin typeface="Amiri"/>
              </a:rPr>
              <a:t>• العمل على زيادة أعداد الطلبة في الصفوف 10 و 11 و 12 وما يتيسر من المراحل الأخرى.</a:t>
            </a:r>
          </a:p>
          <a:p>
            <a:pPr algn="r" rtl="1">
              <a:spcAft>
                <a:spcPts val="400"/>
              </a:spcAft>
            </a:pPr>
            <a:r>
              <a:rPr sz="1200">
                <a:solidFill>
                  <a:srgbClr val="232323"/>
                </a:solidFill>
                <a:latin typeface="Amiri"/>
              </a:rPr>
              <a:t>• تطوير البرامج الأجنبية الحالية واقتراح برامج جديدة مناسبة للسوق.</a:t>
            </a:r>
          </a:p>
          <a:p>
            <a:pPr algn="r" rtl="1">
              <a:spcAft>
                <a:spcPts val="400"/>
              </a:spcAft>
            </a:pPr>
            <a:r>
              <a:rPr sz="1200">
                <a:solidFill>
                  <a:srgbClr val="232323"/>
                </a:solidFill>
                <a:latin typeface="Amiri"/>
              </a:rPr>
              <a:t>• مراقبة أداء المعلمين بالتنسيق مع إدارة المدرسة، والتوصية بالتدريب أو الاستقطاب عند الحاجة.</a:t>
            </a:r>
          </a:p>
          <a:p>
            <a:pPr algn="r" rtl="1">
              <a:spcAft>
                <a:spcPts val="400"/>
              </a:spcAft>
            </a:pPr>
            <a:r>
              <a:rPr sz="1200">
                <a:solidFill>
                  <a:srgbClr val="232323"/>
                </a:solidFill>
                <a:latin typeface="Amiri"/>
              </a:rPr>
              <a:t>• متابعة الطلبة فردياً، وتقييم احتياجاتهم، وإرشادهم إلى المواد والامتحانات الخارجية المناسبة.</a:t>
            </a:r>
          </a:p>
          <a:p>
            <a:pPr algn="r" rtl="1">
              <a:spcAft>
                <a:spcPts val="400"/>
              </a:spcAft>
            </a:pPr>
            <a:r>
              <a:rPr sz="1200">
                <a:solidFill>
                  <a:srgbClr val="232323"/>
                </a:solidFill>
                <a:latin typeface="Amiri"/>
              </a:rPr>
              <a:t>• تنظيم تسجيل الطلبة في الامتحانات الدولية ومتابعة ملفاتهم الأكاديمية.</a:t>
            </a:r>
          </a:p>
          <a:p>
            <a:pPr algn="r" rtl="1">
              <a:spcAft>
                <a:spcPts val="400"/>
              </a:spcAft>
            </a:pPr>
            <a:r>
              <a:rPr sz="1200">
                <a:solidFill>
                  <a:srgbClr val="232323"/>
                </a:solidFill>
                <a:latin typeface="Amiri"/>
              </a:rPr>
              <a:t>• العمل التدريجي لجعل المدرسة مركزاً للامتحانات الدولية وفق المتطلبات والاعتمادات.</a:t>
            </a:r>
          </a:p>
          <a:p>
            <a:pPr algn="r" rtl="1">
              <a:spcAft>
                <a:spcPts val="400"/>
              </a:spcAft>
            </a:pPr>
            <a:r>
              <a:rPr sz="1200">
                <a:solidFill>
                  <a:srgbClr val="232323"/>
                </a:solidFill>
                <a:latin typeface="Amiri"/>
              </a:rPr>
              <a:t>• دمج خدمات مركز النجاح الأكيد والمنصة التعليمية بصورة تكاملية مع المدرسة.</a:t>
            </a:r>
          </a:p>
          <a:p>
            <a:pPr algn="r" rtl="1">
              <a:spcAft>
                <a:spcPts val="400"/>
              </a:spcAft>
            </a:pPr>
            <a:r>
              <a:rPr sz="1200">
                <a:solidFill>
                  <a:srgbClr val="232323"/>
                </a:solidFill>
                <a:latin typeface="Amiri"/>
              </a:rPr>
              <a:t>• تنسيق الزيارات والفعاليات الجامعية، ودعم خدمات الدراسة في الخارج من خلال شركاء متخصصين.</a:t>
            </a:r>
          </a:p>
          <a:p>
            <a:pPr algn="r" rtl="1">
              <a:spcAft>
                <a:spcPts val="400"/>
              </a:spcAft>
            </a:pPr>
            <a:r>
              <a:rPr sz="1200">
                <a:solidFill>
                  <a:srgbClr val="232323"/>
                </a:solidFill>
                <a:latin typeface="Amiri"/>
              </a:rPr>
              <a:t>• المساهمة في تدريس الفيزياء أو الكيمياء عند الحاجة، ودعم إعداد جداول المرحلة الثانوية.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320040"/>
          </a:xfrm>
          <a:prstGeom prst="rect">
            <a:avLst/>
          </a:prstGeom>
          <a:noFill/>
        </p:spPr>
        <p:txBody>
          <a:bodyPr wrap="square">
            <a:spAutoFit/>
          </a:bodyPr>
          <a:lstStyle/>
          <a:p>
            <a:pPr algn="r" rtl="1"/>
            <a:r>
              <a:rPr sz="1600" b="1">
                <a:solidFill>
                  <a:srgbClr val="8B1E2D"/>
                </a:solidFill>
                <a:latin typeface="Amiri"/>
              </a:rPr>
              <a:t>5. الخطة التطويرية لخمس سنوات</a:t>
            </a:r>
          </a:p>
        </p:txBody>
      </p:sp>
      <p:sp>
        <p:nvSpPr>
          <p:cNvPr id="14" name="TextBox 13"/>
          <p:cNvSpPr txBox="1"/>
          <p:nvPr/>
        </p:nvSpPr>
        <p:spPr>
          <a:xfrm>
            <a:off x="502920" y="1051560"/>
            <a:ext cx="8138160" cy="320040"/>
          </a:xfrm>
          <a:prstGeom prst="rect">
            <a:avLst/>
          </a:prstGeom>
          <a:noFill/>
        </p:spPr>
        <p:txBody>
          <a:bodyPr wrap="square">
            <a:spAutoFit/>
          </a:bodyPr>
          <a:lstStyle/>
          <a:p>
            <a:pPr algn="r" rtl="1"/>
            <a:r>
              <a:rPr sz="1400" b="1">
                <a:solidFill>
                  <a:srgbClr val="B68A3A"/>
                </a:solidFill>
                <a:latin typeface="Amiri"/>
              </a:rPr>
              <a:t>السنة الأولى: سنة إعادة البناء والانطلاق</a:t>
            </a:r>
          </a:p>
        </p:txBody>
      </p:sp>
      <p:sp>
        <p:nvSpPr>
          <p:cNvPr id="15" name="TextBox 14"/>
          <p:cNvSpPr txBox="1"/>
          <p:nvPr/>
        </p:nvSpPr>
        <p:spPr>
          <a:xfrm>
            <a:off x="502920" y="1371600"/>
            <a:ext cx="8138160" cy="594360"/>
          </a:xfrm>
          <a:prstGeom prst="rect">
            <a:avLst/>
          </a:prstGeom>
          <a:noFill/>
        </p:spPr>
        <p:txBody>
          <a:bodyPr wrap="square">
            <a:spAutoFit/>
          </a:bodyPr>
          <a:lstStyle/>
          <a:p>
            <a:pPr algn="r" rtl="1"/>
            <a:r>
              <a:rPr sz="1200" b="0">
                <a:solidFill>
                  <a:srgbClr val="232323"/>
                </a:solidFill>
                <a:latin typeface="Amiri"/>
              </a:rPr>
              <a:t>السنة الأولى هي محور الخطة، والهدف منها معالجة الأولويات المباشرة، بناء برنامج دولي منظم، رفع الثقة، وخلق نمو حقيقي في التسجيل.</a:t>
            </a:r>
          </a:p>
        </p:txBody>
      </p:sp>
      <p:sp>
        <p:nvSpPr>
          <p:cNvPr id="16" name="TextBox 15"/>
          <p:cNvSpPr txBox="1"/>
          <p:nvPr/>
        </p:nvSpPr>
        <p:spPr>
          <a:xfrm>
            <a:off x="502920" y="2057400"/>
            <a:ext cx="8138160" cy="256032"/>
          </a:xfrm>
          <a:prstGeom prst="rect">
            <a:avLst/>
          </a:prstGeom>
          <a:noFill/>
        </p:spPr>
        <p:txBody>
          <a:bodyPr wrap="square">
            <a:spAutoFit/>
          </a:bodyPr>
          <a:lstStyle/>
          <a:p>
            <a:pPr algn="r" rtl="1"/>
            <a:r>
              <a:rPr sz="1200" b="1">
                <a:solidFill>
                  <a:srgbClr val="8B1E2D"/>
                </a:solidFill>
                <a:latin typeface="Amiri"/>
              </a:rPr>
              <a:t>المرحلة الأولى: أول 30 يوماً</a:t>
            </a:r>
          </a:p>
        </p:txBody>
      </p:sp>
      <p:sp>
        <p:nvSpPr>
          <p:cNvPr id="17" name="TextBox 16"/>
          <p:cNvSpPr txBox="1"/>
          <p:nvPr/>
        </p:nvSpPr>
        <p:spPr>
          <a:xfrm>
            <a:off x="502920" y="2313432"/>
            <a:ext cx="8138160" cy="502920"/>
          </a:xfrm>
          <a:prstGeom prst="rect">
            <a:avLst/>
          </a:prstGeom>
          <a:noFill/>
        </p:spPr>
        <p:txBody>
          <a:bodyPr wrap="square">
            <a:spAutoFit/>
          </a:bodyPr>
          <a:lstStyle/>
          <a:p>
            <a:pPr algn="r" rtl="1"/>
            <a:r>
              <a:rPr sz="1100" b="0">
                <a:solidFill>
                  <a:srgbClr val="232323"/>
                </a:solidFill>
                <a:latin typeface="Amiri"/>
              </a:rPr>
              <a:t>تقييم الطلبة والمعلمين، مراجعة البرامج الحالية، تحديد احتياجات المختبرات والصفوف، إعداد الهيكل التشغيلي، ووضع مؤشرات أداء واضحة.</a:t>
            </a:r>
          </a:p>
        </p:txBody>
      </p:sp>
      <p:sp>
        <p:nvSpPr>
          <p:cNvPr id="18" name="TextBox 17"/>
          <p:cNvSpPr txBox="1"/>
          <p:nvPr/>
        </p:nvSpPr>
        <p:spPr>
          <a:xfrm>
            <a:off x="502920" y="2880360"/>
            <a:ext cx="8138160" cy="256032"/>
          </a:xfrm>
          <a:prstGeom prst="rect">
            <a:avLst/>
          </a:prstGeom>
          <a:noFill/>
        </p:spPr>
        <p:txBody>
          <a:bodyPr wrap="square">
            <a:spAutoFit/>
          </a:bodyPr>
          <a:lstStyle/>
          <a:p>
            <a:pPr algn="r" rtl="1"/>
            <a:r>
              <a:rPr sz="1200" b="1">
                <a:solidFill>
                  <a:srgbClr val="8B1E2D"/>
                </a:solidFill>
                <a:latin typeface="Amiri"/>
              </a:rPr>
              <a:t>المرحلة الثانية: من 30 إلى 90 يوماً</a:t>
            </a:r>
          </a:p>
        </p:txBody>
      </p:sp>
      <p:sp>
        <p:nvSpPr>
          <p:cNvPr id="19" name="TextBox 18"/>
          <p:cNvSpPr txBox="1"/>
          <p:nvPr/>
        </p:nvSpPr>
        <p:spPr>
          <a:xfrm>
            <a:off x="502920" y="3136391"/>
            <a:ext cx="8138160" cy="502920"/>
          </a:xfrm>
          <a:prstGeom prst="rect">
            <a:avLst/>
          </a:prstGeom>
          <a:noFill/>
        </p:spPr>
        <p:txBody>
          <a:bodyPr wrap="square">
            <a:spAutoFit/>
          </a:bodyPr>
          <a:lstStyle/>
          <a:p>
            <a:pPr algn="r" rtl="1"/>
            <a:r>
              <a:rPr sz="1100" b="0">
                <a:solidFill>
                  <a:srgbClr val="232323"/>
                </a:solidFill>
                <a:latin typeface="Amiri"/>
              </a:rPr>
              <a:t>تنظيم الصفوف، بدء أعمال الصيانة ذات الأولوية، إعداد الهوية التسويقية للبرنامج الدولي، تدريب المعلمين، وتفعيل نظام متابعة الطلبة وأولياء الأمور.</a:t>
            </a:r>
          </a:p>
        </p:txBody>
      </p:sp>
      <p:sp>
        <p:nvSpPr>
          <p:cNvPr id="20" name="TextBox 19"/>
          <p:cNvSpPr txBox="1"/>
          <p:nvPr/>
        </p:nvSpPr>
        <p:spPr>
          <a:xfrm>
            <a:off x="502920" y="3703320"/>
            <a:ext cx="8138160" cy="256032"/>
          </a:xfrm>
          <a:prstGeom prst="rect">
            <a:avLst/>
          </a:prstGeom>
          <a:noFill/>
        </p:spPr>
        <p:txBody>
          <a:bodyPr wrap="square">
            <a:spAutoFit/>
          </a:bodyPr>
          <a:lstStyle/>
          <a:p>
            <a:pPr algn="r" rtl="1"/>
            <a:r>
              <a:rPr sz="1200" b="1">
                <a:solidFill>
                  <a:srgbClr val="8B1E2D"/>
                </a:solidFill>
                <a:latin typeface="Amiri"/>
              </a:rPr>
              <a:t>المرحلة الثالثة: الفصل الأول</a:t>
            </a:r>
          </a:p>
        </p:txBody>
      </p:sp>
      <p:sp>
        <p:nvSpPr>
          <p:cNvPr id="21" name="TextBox 20"/>
          <p:cNvSpPr txBox="1"/>
          <p:nvPr/>
        </p:nvSpPr>
        <p:spPr>
          <a:xfrm>
            <a:off x="502920" y="3959352"/>
            <a:ext cx="8138160" cy="502920"/>
          </a:xfrm>
          <a:prstGeom prst="rect">
            <a:avLst/>
          </a:prstGeom>
          <a:noFill/>
        </p:spPr>
        <p:txBody>
          <a:bodyPr wrap="square">
            <a:spAutoFit/>
          </a:bodyPr>
          <a:lstStyle/>
          <a:p>
            <a:pPr algn="r" rtl="1"/>
            <a:r>
              <a:rPr sz="1100" b="0">
                <a:solidFill>
                  <a:srgbClr val="232323"/>
                </a:solidFill>
                <a:latin typeface="Amiri"/>
              </a:rPr>
              <a:t>إطلاق حملة تسجيل موجهة، تنظيم أيام مفتوحة، إضافة البرامج المطلوبة، تفعيل المنصة التعليمية، وتحسين تجربة الطالب داخل الصف والمختبر.</a:t>
            </a:r>
          </a:p>
        </p:txBody>
      </p:sp>
      <p:sp>
        <p:nvSpPr>
          <p:cNvPr id="22" name="TextBox 21"/>
          <p:cNvSpPr txBox="1"/>
          <p:nvPr/>
        </p:nvSpPr>
        <p:spPr>
          <a:xfrm>
            <a:off x="502920" y="4526280"/>
            <a:ext cx="8138160" cy="256032"/>
          </a:xfrm>
          <a:prstGeom prst="rect">
            <a:avLst/>
          </a:prstGeom>
          <a:noFill/>
        </p:spPr>
        <p:txBody>
          <a:bodyPr wrap="square">
            <a:spAutoFit/>
          </a:bodyPr>
          <a:lstStyle/>
          <a:p>
            <a:pPr algn="r" rtl="1"/>
            <a:r>
              <a:rPr sz="1200" b="1">
                <a:solidFill>
                  <a:srgbClr val="8B1E2D"/>
                </a:solidFill>
                <a:latin typeface="Amiri"/>
              </a:rPr>
              <a:t>المرحلة الرابعة: الفصل الثاني</a:t>
            </a:r>
          </a:p>
        </p:txBody>
      </p:sp>
      <p:sp>
        <p:nvSpPr>
          <p:cNvPr id="23" name="TextBox 22"/>
          <p:cNvSpPr txBox="1"/>
          <p:nvPr/>
        </p:nvSpPr>
        <p:spPr>
          <a:xfrm>
            <a:off x="502920" y="4782312"/>
            <a:ext cx="8138160" cy="502920"/>
          </a:xfrm>
          <a:prstGeom prst="rect">
            <a:avLst/>
          </a:prstGeom>
          <a:noFill/>
        </p:spPr>
        <p:txBody>
          <a:bodyPr wrap="square">
            <a:spAutoFit/>
          </a:bodyPr>
          <a:lstStyle/>
          <a:p>
            <a:pPr algn="r" rtl="1"/>
            <a:r>
              <a:rPr sz="1100" b="0">
                <a:solidFill>
                  <a:srgbClr val="232323"/>
                </a:solidFill>
                <a:latin typeface="Amiri"/>
              </a:rPr>
              <a:t>قياس النتائج، معالجة نقاط الضعف، توسيع الشراكات، التحضير للاعتمادات ومراكز الامتحانات، وإعداد خطة السنة الثانية بناءً على النتائج الفعلية.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365760"/>
          </a:xfrm>
          <a:prstGeom prst="rect">
            <a:avLst/>
          </a:prstGeom>
          <a:noFill/>
        </p:spPr>
        <p:txBody>
          <a:bodyPr wrap="square">
            <a:spAutoFit/>
          </a:bodyPr>
          <a:lstStyle/>
          <a:p>
            <a:pPr algn="r" rtl="1"/>
            <a:r>
              <a:rPr sz="1600" b="1">
                <a:solidFill>
                  <a:srgbClr val="B68A3A"/>
                </a:solidFill>
                <a:latin typeface="Amiri"/>
              </a:rPr>
              <a:t>أهداف السنة الأولى القابلة للقياس</a:t>
            </a:r>
          </a:p>
        </p:txBody>
      </p:sp>
      <p:sp>
        <p:nvSpPr>
          <p:cNvPr id="14" name="TextBox 13"/>
          <p:cNvSpPr txBox="1"/>
          <p:nvPr/>
        </p:nvSpPr>
        <p:spPr>
          <a:xfrm>
            <a:off x="502920" y="1143000"/>
            <a:ext cx="8138160" cy="5029200"/>
          </a:xfrm>
          <a:prstGeom prst="rect">
            <a:avLst/>
          </a:prstGeom>
          <a:noFill/>
        </p:spPr>
        <p:txBody>
          <a:bodyPr wrap="square">
            <a:spAutoFit/>
          </a:bodyPr>
          <a:lstStyle/>
          <a:p>
            <a:pPr algn="r" rtl="1">
              <a:spcAft>
                <a:spcPts val="400"/>
              </a:spcAft>
            </a:pPr>
            <a:r>
              <a:rPr sz="1300">
                <a:solidFill>
                  <a:srgbClr val="232323"/>
                </a:solidFill>
                <a:latin typeface="Amiri"/>
              </a:rPr>
              <a:t>• رفع عدد طلبة المدرسة تدريجياً من نحو 300 إلى هدف تقريبي يصل إلى 400-450 طالباً، مع مراجعة الهدف بعد الاطلاع على بيانات التسجيل الفعلية.</a:t>
            </a:r>
          </a:p>
          <a:p>
            <a:pPr algn="r" rtl="1">
              <a:spcAft>
                <a:spcPts val="400"/>
              </a:spcAft>
            </a:pPr>
            <a:r>
              <a:rPr sz="1300">
                <a:solidFill>
                  <a:srgbClr val="232323"/>
                </a:solidFill>
                <a:latin typeface="Amiri"/>
              </a:rPr>
              <a:t>• بناء برنامج دولي منظم له هوية واضحة وخدمة متابعة أكاديمية مميزة.</a:t>
            </a:r>
          </a:p>
          <a:p>
            <a:pPr algn="r" rtl="1">
              <a:spcAft>
                <a:spcPts val="400"/>
              </a:spcAft>
            </a:pPr>
            <a:r>
              <a:rPr sz="1300">
                <a:solidFill>
                  <a:srgbClr val="232323"/>
                </a:solidFill>
                <a:latin typeface="Amiri"/>
              </a:rPr>
              <a:t>• إنهاء أعمال السلامة والصيانة الأساسية ذات الأثر المباشر على الطلبة.</a:t>
            </a:r>
          </a:p>
          <a:p>
            <a:pPr algn="r" rtl="1">
              <a:spcAft>
                <a:spcPts val="400"/>
              </a:spcAft>
            </a:pPr>
            <a:r>
              <a:rPr sz="1300">
                <a:solidFill>
                  <a:srgbClr val="232323"/>
                </a:solidFill>
                <a:latin typeface="Amiri"/>
              </a:rPr>
              <a:t>• تجهيز مختبر واحد على الأقل بصورة كاملة كنموذج أولي، ثم استكمال بقية المختبرات حسب الأولوية والميزانية.</a:t>
            </a:r>
          </a:p>
          <a:p>
            <a:pPr algn="r" rtl="1">
              <a:spcAft>
                <a:spcPts val="400"/>
              </a:spcAft>
            </a:pPr>
            <a:r>
              <a:rPr sz="1300">
                <a:solidFill>
                  <a:srgbClr val="232323"/>
                </a:solidFill>
                <a:latin typeface="Amiri"/>
              </a:rPr>
              <a:t>• تطبيق نظام تقييم ومتابعة للمعلمين، وتقارير دورية للطلبة وأولياء الأمور.</a:t>
            </a:r>
          </a:p>
          <a:p>
            <a:pPr algn="r" rtl="1">
              <a:spcAft>
                <a:spcPts val="400"/>
              </a:spcAft>
            </a:pPr>
            <a:r>
              <a:rPr sz="1300">
                <a:solidFill>
                  <a:srgbClr val="232323"/>
                </a:solidFill>
                <a:latin typeface="Amiri"/>
              </a:rPr>
              <a:t>• إطلاق تسويق تعليمي متخصص يركز على النتائج والخدمات والبرامج الدولية.</a:t>
            </a:r>
          </a:p>
          <a:p>
            <a:pPr algn="r" rtl="1">
              <a:spcAft>
                <a:spcPts val="400"/>
              </a:spcAft>
            </a:pPr>
            <a:r>
              <a:rPr sz="1300">
                <a:solidFill>
                  <a:srgbClr val="232323"/>
                </a:solidFill>
                <a:latin typeface="Amiri"/>
              </a:rPr>
              <a:t>• إعداد ملف الاعتماد أو مركز الامتحانات المناسب وبدء الخطوات الرسمية عند توفر الشروط.</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292608"/>
          </a:xfrm>
          <a:prstGeom prst="rect">
            <a:avLst/>
          </a:prstGeom>
          <a:noFill/>
        </p:spPr>
        <p:txBody>
          <a:bodyPr wrap="square">
            <a:spAutoFit/>
          </a:bodyPr>
          <a:lstStyle/>
          <a:p>
            <a:pPr algn="r" rtl="1"/>
            <a:r>
              <a:rPr sz="1300" b="1">
                <a:solidFill>
                  <a:srgbClr val="B68A3A"/>
                </a:solidFill>
                <a:latin typeface="Amiri"/>
              </a:rPr>
              <a:t>السنة الثانية: التثبيت ورفع الإشغال</a:t>
            </a:r>
          </a:p>
        </p:txBody>
      </p:sp>
      <p:sp>
        <p:nvSpPr>
          <p:cNvPr id="14" name="TextBox 13"/>
          <p:cNvSpPr txBox="1"/>
          <p:nvPr/>
        </p:nvSpPr>
        <p:spPr>
          <a:xfrm>
            <a:off x="502920" y="978408"/>
            <a:ext cx="8138160" cy="292608"/>
          </a:xfrm>
          <a:prstGeom prst="rect">
            <a:avLst/>
          </a:prstGeom>
          <a:noFill/>
        </p:spPr>
        <p:txBody>
          <a:bodyPr wrap="square">
            <a:spAutoFit/>
          </a:bodyPr>
          <a:lstStyle/>
          <a:p>
            <a:pPr algn="r" rtl="1"/>
            <a:r>
              <a:rPr sz="1100" b="0">
                <a:solidFill>
                  <a:srgbClr val="232323"/>
                </a:solidFill>
                <a:latin typeface="Amiri"/>
              </a:rPr>
              <a:t>• توسيع البرنامج الدولي وإضافة التخصصات والبرامج التي أثبتت وجود طلب عليها.</a:t>
            </a:r>
          </a:p>
        </p:txBody>
      </p:sp>
      <p:sp>
        <p:nvSpPr>
          <p:cNvPr id="15" name="TextBox 14"/>
          <p:cNvSpPr txBox="1"/>
          <p:nvPr/>
        </p:nvSpPr>
        <p:spPr>
          <a:xfrm>
            <a:off x="502920" y="1271016"/>
            <a:ext cx="8138160" cy="292608"/>
          </a:xfrm>
          <a:prstGeom prst="rect">
            <a:avLst/>
          </a:prstGeom>
          <a:noFill/>
        </p:spPr>
        <p:txBody>
          <a:bodyPr wrap="square">
            <a:spAutoFit/>
          </a:bodyPr>
          <a:lstStyle/>
          <a:p>
            <a:pPr algn="r" rtl="1"/>
            <a:r>
              <a:rPr sz="1100" b="0">
                <a:solidFill>
                  <a:srgbClr val="232323"/>
                </a:solidFill>
                <a:latin typeface="Amiri"/>
              </a:rPr>
              <a:t>• رفع الإشغال في المبنى الحالي، وتحسين الاستدامة المالية وجودة الخدمات.</a:t>
            </a:r>
          </a:p>
        </p:txBody>
      </p:sp>
      <p:sp>
        <p:nvSpPr>
          <p:cNvPr id="16" name="TextBox 15"/>
          <p:cNvSpPr txBox="1"/>
          <p:nvPr/>
        </p:nvSpPr>
        <p:spPr>
          <a:xfrm>
            <a:off x="502920" y="1563624"/>
            <a:ext cx="8138160" cy="292608"/>
          </a:xfrm>
          <a:prstGeom prst="rect">
            <a:avLst/>
          </a:prstGeom>
          <a:noFill/>
        </p:spPr>
        <p:txBody>
          <a:bodyPr wrap="square">
            <a:spAutoFit/>
          </a:bodyPr>
          <a:lstStyle/>
          <a:p>
            <a:pPr algn="r" rtl="1"/>
            <a:r>
              <a:rPr sz="1100" b="0">
                <a:solidFill>
                  <a:srgbClr val="232323"/>
                </a:solidFill>
                <a:latin typeface="Amiri"/>
              </a:rPr>
              <a:t>• بناء فريق قيادة أكاديمية قادر على إدارة النمو دون الاعتماد على شخص واحد.</a:t>
            </a:r>
          </a:p>
        </p:txBody>
      </p:sp>
      <p:sp>
        <p:nvSpPr>
          <p:cNvPr id="17" name="TextBox 16"/>
          <p:cNvSpPr txBox="1"/>
          <p:nvPr/>
        </p:nvSpPr>
        <p:spPr>
          <a:xfrm>
            <a:off x="502920" y="1856232"/>
            <a:ext cx="8138160" cy="292608"/>
          </a:xfrm>
          <a:prstGeom prst="rect">
            <a:avLst/>
          </a:prstGeom>
          <a:noFill/>
        </p:spPr>
        <p:txBody>
          <a:bodyPr wrap="square">
            <a:spAutoFit/>
          </a:bodyPr>
          <a:lstStyle/>
          <a:p>
            <a:pPr algn="r" rtl="1"/>
            <a:r>
              <a:rPr sz="1100" b="0">
                <a:solidFill>
                  <a:srgbClr val="232323"/>
                </a:solidFill>
                <a:latin typeface="Amiri"/>
              </a:rPr>
              <a:t>• إعداد دراسة جدوى تفصيلية للفرع الثاني وتحديد الموقع والميزانية والنموذج التشغيلي.</a:t>
            </a:r>
          </a:p>
        </p:txBody>
      </p:sp>
      <p:sp>
        <p:nvSpPr>
          <p:cNvPr id="18" name="TextBox 17"/>
          <p:cNvSpPr txBox="1"/>
          <p:nvPr/>
        </p:nvSpPr>
        <p:spPr>
          <a:xfrm>
            <a:off x="502920" y="2258568"/>
            <a:ext cx="8138160" cy="292608"/>
          </a:xfrm>
          <a:prstGeom prst="rect">
            <a:avLst/>
          </a:prstGeom>
          <a:noFill/>
        </p:spPr>
        <p:txBody>
          <a:bodyPr wrap="square">
            <a:spAutoFit/>
          </a:bodyPr>
          <a:lstStyle/>
          <a:p>
            <a:pPr algn="r" rtl="1"/>
            <a:r>
              <a:rPr sz="1300" b="1">
                <a:solidFill>
                  <a:srgbClr val="B68A3A"/>
                </a:solidFill>
                <a:latin typeface="Amiri"/>
              </a:rPr>
              <a:t>السنة الثالثة: فرع طريق المطار</a:t>
            </a:r>
          </a:p>
        </p:txBody>
      </p:sp>
      <p:sp>
        <p:nvSpPr>
          <p:cNvPr id="19" name="TextBox 18"/>
          <p:cNvSpPr txBox="1"/>
          <p:nvPr/>
        </p:nvSpPr>
        <p:spPr>
          <a:xfrm>
            <a:off x="502920" y="2551176"/>
            <a:ext cx="8138160" cy="411480"/>
          </a:xfrm>
          <a:prstGeom prst="rect">
            <a:avLst/>
          </a:prstGeom>
          <a:noFill/>
        </p:spPr>
        <p:txBody>
          <a:bodyPr wrap="square">
            <a:spAutoFit/>
          </a:bodyPr>
          <a:lstStyle/>
          <a:p>
            <a:pPr algn="r" rtl="1"/>
            <a:r>
              <a:rPr sz="1100" b="0">
                <a:solidFill>
                  <a:srgbClr val="232323"/>
                </a:solidFill>
                <a:latin typeface="Amiri"/>
              </a:rPr>
              <a:t>بعد تحقيق مؤشرات السنتين الأولى والثانية، تستهدف الخطة افتتاح فرع جديد على طريق المطار، مع نقل النموذج الأكاديمي الناجح وتوحيد الجودة والإدارة بين الفرعين.</a:t>
            </a:r>
          </a:p>
        </p:txBody>
      </p:sp>
      <p:sp>
        <p:nvSpPr>
          <p:cNvPr id="20" name="TextBox 19"/>
          <p:cNvSpPr txBox="1"/>
          <p:nvPr/>
        </p:nvSpPr>
        <p:spPr>
          <a:xfrm>
            <a:off x="502920" y="3044952"/>
            <a:ext cx="8138160" cy="292608"/>
          </a:xfrm>
          <a:prstGeom prst="rect">
            <a:avLst/>
          </a:prstGeom>
          <a:noFill/>
        </p:spPr>
        <p:txBody>
          <a:bodyPr wrap="square">
            <a:spAutoFit/>
          </a:bodyPr>
          <a:lstStyle/>
          <a:p>
            <a:pPr algn="r" rtl="1"/>
            <a:r>
              <a:rPr sz="1300" b="1">
                <a:solidFill>
                  <a:srgbClr val="B68A3A"/>
                </a:solidFill>
                <a:latin typeface="Amiri"/>
              </a:rPr>
              <a:t>السنة الرابعة: فرع شفا بدران</a:t>
            </a:r>
          </a:p>
        </p:txBody>
      </p:sp>
      <p:sp>
        <p:nvSpPr>
          <p:cNvPr id="21" name="TextBox 20"/>
          <p:cNvSpPr txBox="1"/>
          <p:nvPr/>
        </p:nvSpPr>
        <p:spPr>
          <a:xfrm>
            <a:off x="502920" y="3337560"/>
            <a:ext cx="8138160" cy="411480"/>
          </a:xfrm>
          <a:prstGeom prst="rect">
            <a:avLst/>
          </a:prstGeom>
          <a:noFill/>
        </p:spPr>
        <p:txBody>
          <a:bodyPr wrap="square">
            <a:spAutoFit/>
          </a:bodyPr>
          <a:lstStyle/>
          <a:p>
            <a:pPr algn="r" rtl="1"/>
            <a:r>
              <a:rPr sz="1100" b="0">
                <a:solidFill>
                  <a:srgbClr val="232323"/>
                </a:solidFill>
                <a:latin typeface="Amiri"/>
              </a:rPr>
              <a:t>في حال نجاح فرع طريق المطار واستقرار المدرسة الأم، تستهدف الخطة افتتاح فرع في شفا بدران، مع توسيع البرامج الدولية وبناء إدارة مركزية مشتركة للموارد البشرية والجودة والتسويق والمالية.</a:t>
            </a:r>
          </a:p>
        </p:txBody>
      </p:sp>
      <p:sp>
        <p:nvSpPr>
          <p:cNvPr id="22" name="TextBox 21"/>
          <p:cNvSpPr txBox="1"/>
          <p:nvPr/>
        </p:nvSpPr>
        <p:spPr>
          <a:xfrm>
            <a:off x="502920" y="3831336"/>
            <a:ext cx="8138160" cy="292608"/>
          </a:xfrm>
          <a:prstGeom prst="rect">
            <a:avLst/>
          </a:prstGeom>
          <a:noFill/>
        </p:spPr>
        <p:txBody>
          <a:bodyPr wrap="square">
            <a:spAutoFit/>
          </a:bodyPr>
          <a:lstStyle/>
          <a:p>
            <a:pPr algn="r" rtl="1"/>
            <a:r>
              <a:rPr sz="1300" b="1">
                <a:solidFill>
                  <a:srgbClr val="B68A3A"/>
                </a:solidFill>
                <a:latin typeface="Amiri"/>
              </a:rPr>
              <a:t>السنة الخامسة: بدء مرحلة الانتشار الفعلية</a:t>
            </a:r>
          </a:p>
        </p:txBody>
      </p:sp>
      <p:sp>
        <p:nvSpPr>
          <p:cNvPr id="23" name="TextBox 22"/>
          <p:cNvSpPr txBox="1"/>
          <p:nvPr/>
        </p:nvSpPr>
        <p:spPr>
          <a:xfrm>
            <a:off x="502920" y="4123944"/>
            <a:ext cx="8138160" cy="411480"/>
          </a:xfrm>
          <a:prstGeom prst="rect">
            <a:avLst/>
          </a:prstGeom>
          <a:noFill/>
        </p:spPr>
        <p:txBody>
          <a:bodyPr wrap="square">
            <a:spAutoFit/>
          </a:bodyPr>
          <a:lstStyle/>
          <a:p>
            <a:pPr algn="r" rtl="1"/>
            <a:r>
              <a:rPr sz="1100" b="0">
                <a:solidFill>
                  <a:srgbClr val="232323"/>
                </a:solidFill>
                <a:latin typeface="Amiri"/>
              </a:rPr>
              <a:t>تبدأ المدرسة في السنة الخامسة مرحلة الانتشار المؤسسي الفعلي، من خلال اختيار مواقع إضافية داخل الأردن، أو بناء شراكات وفروع تعمل تحت اسم ونظام أكاديمي موحد، مع الحفاظ على الجودة وعدم التوسع أسرع من قدرة الإدارة على المتابعة.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 name="Picture 9" descr="success4sure_watermark.png"/>
          <p:cNvPicPr>
            <a:picLocks noChangeAspect="1"/>
          </p:cNvPicPr>
          <p:nvPr/>
        </p:nvPicPr>
        <p:blipFill>
          <a:blip r:embed="rId2"/>
          <a:stretch>
            <a:fillRect/>
          </a:stretch>
        </p:blipFill>
        <p:spPr>
          <a:xfrm>
            <a:off x="1463040" y="2194560"/>
            <a:ext cx="6400800" cy="4586400"/>
          </a:xfrm>
          <a:prstGeom prst="rect">
            <a:avLst/>
          </a:prstGeom>
        </p:spPr>
      </p:pic>
      <p:sp>
        <p:nvSpPr>
          <p:cNvPr id="2" name="Rectangle 1"/>
          <p:cNvSpPr/>
          <p:nvPr/>
        </p:nvSpPr>
        <p:spPr>
          <a:xfrm>
            <a:off x="228600" y="228600"/>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6588252"/>
            <a:ext cx="8686800" cy="41148"/>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874252" y="228600"/>
            <a:ext cx="41148" cy="6400800"/>
          </a:xfrm>
          <a:prstGeom prst="rect">
            <a:avLst/>
          </a:prstGeom>
          <a:solidFill>
            <a:srgbClr val="8B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10896" y="310896"/>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 y="6536132"/>
            <a:ext cx="8522208" cy="10972"/>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10896"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822132" y="310896"/>
            <a:ext cx="10972" cy="6236208"/>
          </a:xfrm>
          <a:prstGeom prst="rect">
            <a:avLst/>
          </a:prstGeom>
          <a:solidFill>
            <a:srgbClr val="B68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47472"/>
            <a:ext cx="8229600" cy="320040"/>
          </a:xfrm>
          <a:prstGeom prst="rect">
            <a:avLst/>
          </a:prstGeom>
          <a:noFill/>
        </p:spPr>
        <p:txBody>
          <a:bodyPr wrap="square">
            <a:spAutoFit/>
          </a:bodyPr>
          <a:lstStyle/>
          <a:p>
            <a:pPr algn="ctr"/>
            <a:r>
              <a:rPr sz="1100" b="1">
                <a:solidFill>
                  <a:srgbClr val="8B1E2D"/>
                </a:solidFill>
                <a:latin typeface="Liberation Serif"/>
              </a:rPr>
              <a:t>LORD SCHOOL | INTERNATIONAL PROGRAM DEVELOPMENT</a:t>
            </a:r>
          </a:p>
        </p:txBody>
      </p:sp>
      <p:sp>
        <p:nvSpPr>
          <p:cNvPr id="12" name="TextBox 11"/>
          <p:cNvSpPr txBox="1"/>
          <p:nvPr/>
        </p:nvSpPr>
        <p:spPr>
          <a:xfrm>
            <a:off x="457200" y="6355080"/>
            <a:ext cx="8229600" cy="274320"/>
          </a:xfrm>
          <a:prstGeom prst="rect">
            <a:avLst/>
          </a:prstGeom>
          <a:noFill/>
        </p:spPr>
        <p:txBody>
          <a:bodyPr wrap="square">
            <a:spAutoFit/>
          </a:bodyPr>
          <a:lstStyle/>
          <a:p>
            <a:pPr algn="ctr"/>
            <a:r>
              <a:rPr sz="900" b="0">
                <a:solidFill>
                  <a:srgbClr val="666666"/>
                </a:solidFill>
                <a:latin typeface="Liberation Serif"/>
              </a:rPr>
              <a:t>Prepared by Mr. Waseem Allabadi - Success 4 Sure Academy</a:t>
            </a:r>
          </a:p>
        </p:txBody>
      </p:sp>
      <p:sp>
        <p:nvSpPr>
          <p:cNvPr id="13" name="TextBox 12"/>
          <p:cNvSpPr txBox="1"/>
          <p:nvPr/>
        </p:nvSpPr>
        <p:spPr>
          <a:xfrm>
            <a:off x="502920" y="685800"/>
            <a:ext cx="8138160" cy="365760"/>
          </a:xfrm>
          <a:prstGeom prst="rect">
            <a:avLst/>
          </a:prstGeom>
          <a:noFill/>
        </p:spPr>
        <p:txBody>
          <a:bodyPr wrap="square">
            <a:spAutoFit/>
          </a:bodyPr>
          <a:lstStyle/>
          <a:p>
            <a:pPr algn="r" rtl="1"/>
            <a:r>
              <a:rPr sz="1800" b="1">
                <a:solidFill>
                  <a:srgbClr val="8B1E2D"/>
                </a:solidFill>
                <a:latin typeface="Amiri"/>
              </a:rPr>
              <a:t>6. النتيجة المتوقعة</a:t>
            </a:r>
          </a:p>
        </p:txBody>
      </p:sp>
      <p:sp>
        <p:nvSpPr>
          <p:cNvPr id="14" name="TextBox 13"/>
          <p:cNvSpPr txBox="1"/>
          <p:nvPr/>
        </p:nvSpPr>
        <p:spPr>
          <a:xfrm>
            <a:off x="502920" y="1097280"/>
            <a:ext cx="8138160" cy="1188720"/>
          </a:xfrm>
          <a:prstGeom prst="rect">
            <a:avLst/>
          </a:prstGeom>
          <a:noFill/>
        </p:spPr>
        <p:txBody>
          <a:bodyPr wrap="square">
            <a:spAutoFit/>
          </a:bodyPr>
          <a:lstStyle/>
          <a:p>
            <a:pPr algn="r" rtl="1"/>
            <a:r>
              <a:rPr sz="1300" b="0">
                <a:solidFill>
                  <a:srgbClr val="232323"/>
                </a:solidFill>
                <a:latin typeface="Amiri"/>
              </a:rPr>
              <a:t>الهدف من الخطة ليس فقط معالجة الملاحظات الحالية، بل تحويل البرنامج الدولي إلى محرك نمو للمدرسة. يبدأ النجاح من السنة الأولى عبر تحسين البيئة التعليمية، تنظيم العمل الأكاديمي، رفع جودة المتابعة، واستقطاب الطلبة. وبعد إثبات النموذج واستقراره يمكن الانتقال بصورة مدروسة إلى طريق المطار، ثم شفا بدران، ثم مرحلة الانتشار الفعلي.</a:t>
            </a:r>
          </a:p>
        </p:txBody>
      </p:sp>
      <p:sp>
        <p:nvSpPr>
          <p:cNvPr id="15" name="TextBox 14"/>
          <p:cNvSpPr txBox="1"/>
          <p:nvPr/>
        </p:nvSpPr>
        <p:spPr>
          <a:xfrm>
            <a:off x="502920" y="2377440"/>
            <a:ext cx="8138160" cy="320040"/>
          </a:xfrm>
          <a:prstGeom prst="rect">
            <a:avLst/>
          </a:prstGeom>
          <a:noFill/>
        </p:spPr>
        <p:txBody>
          <a:bodyPr wrap="square">
            <a:spAutoFit/>
          </a:bodyPr>
          <a:lstStyle/>
          <a:p>
            <a:pPr algn="r" rtl="1"/>
            <a:r>
              <a:rPr sz="1400" b="1">
                <a:solidFill>
                  <a:srgbClr val="8B1E2D"/>
                </a:solidFill>
                <a:latin typeface="Amiri"/>
              </a:rPr>
              <a:t>مبدأ التنفيذ</a:t>
            </a:r>
          </a:p>
        </p:txBody>
      </p:sp>
      <p:sp>
        <p:nvSpPr>
          <p:cNvPr id="16" name="TextBox 15"/>
          <p:cNvSpPr txBox="1"/>
          <p:nvPr/>
        </p:nvSpPr>
        <p:spPr>
          <a:xfrm>
            <a:off x="502920" y="2743200"/>
            <a:ext cx="8138160" cy="2011680"/>
          </a:xfrm>
          <a:prstGeom prst="rect">
            <a:avLst/>
          </a:prstGeom>
          <a:noFill/>
        </p:spPr>
        <p:txBody>
          <a:bodyPr wrap="square">
            <a:spAutoFit/>
          </a:bodyPr>
          <a:lstStyle/>
          <a:p>
            <a:pPr algn="r" rtl="1">
              <a:spcAft>
                <a:spcPts val="400"/>
              </a:spcAft>
            </a:pPr>
            <a:r>
              <a:rPr sz="1300">
                <a:solidFill>
                  <a:srgbClr val="232323"/>
                </a:solidFill>
                <a:latin typeface="Amiri"/>
              </a:rPr>
              <a:t>• الأولوية للسنة الأولى والنتائج القابلة للقياس.</a:t>
            </a:r>
          </a:p>
          <a:p>
            <a:pPr algn="r" rtl="1">
              <a:spcAft>
                <a:spcPts val="400"/>
              </a:spcAft>
            </a:pPr>
            <a:r>
              <a:rPr sz="1300">
                <a:solidFill>
                  <a:srgbClr val="232323"/>
                </a:solidFill>
                <a:latin typeface="Amiri"/>
              </a:rPr>
              <a:t>• كل توسع لاحق مرتبط بتحقيق أهداف أكاديمية وتشغيلية ومالية واضحة.</a:t>
            </a:r>
          </a:p>
          <a:p>
            <a:pPr algn="r" rtl="1">
              <a:spcAft>
                <a:spcPts val="400"/>
              </a:spcAft>
            </a:pPr>
            <a:r>
              <a:rPr sz="1300">
                <a:solidFill>
                  <a:srgbClr val="232323"/>
                </a:solidFill>
                <a:latin typeface="Amiri"/>
              </a:rPr>
              <a:t>• التطوير يتم بالتعاون مع إدارة المدرسة وضمن الميزانيات والصلاحيات المعتمدة.</a:t>
            </a:r>
          </a:p>
          <a:p>
            <a:pPr algn="r" rtl="1">
              <a:spcAft>
                <a:spcPts val="400"/>
              </a:spcAft>
            </a:pPr>
            <a:r>
              <a:rPr sz="1300">
                <a:solidFill>
                  <a:srgbClr val="232323"/>
                </a:solidFill>
                <a:latin typeface="Amiri"/>
              </a:rPr>
              <a:t>• الأرقام الواردة تقديرية وتُحدَّث بعد الاطلاع على البيانات الرسمية.</a:t>
            </a:r>
          </a:p>
        </p:txBody>
      </p:sp>
      <p:sp>
        <p:nvSpPr>
          <p:cNvPr id="17" name="TextBox 16"/>
          <p:cNvSpPr txBox="1"/>
          <p:nvPr/>
        </p:nvSpPr>
        <p:spPr>
          <a:xfrm>
            <a:off x="502920" y="4937760"/>
            <a:ext cx="8138160" cy="320040"/>
          </a:xfrm>
          <a:prstGeom prst="rect">
            <a:avLst/>
          </a:prstGeom>
          <a:noFill/>
        </p:spPr>
        <p:txBody>
          <a:bodyPr wrap="square">
            <a:spAutoFit/>
          </a:bodyPr>
          <a:lstStyle/>
          <a:p>
            <a:pPr algn="ctr" rtl="1"/>
            <a:r>
              <a:rPr sz="1400" b="1">
                <a:solidFill>
                  <a:srgbClr val="8B1E2D"/>
                </a:solidFill>
                <a:latin typeface="Amiri"/>
              </a:rPr>
              <a:t>الأستاذ وسيم اللبدي</a:t>
            </a:r>
          </a:p>
        </p:txBody>
      </p:sp>
      <p:sp>
        <p:nvSpPr>
          <p:cNvPr id="18" name="TextBox 17"/>
          <p:cNvSpPr txBox="1"/>
          <p:nvPr/>
        </p:nvSpPr>
        <p:spPr>
          <a:xfrm>
            <a:off x="502920" y="5303520"/>
            <a:ext cx="8138160" cy="320040"/>
          </a:xfrm>
          <a:prstGeom prst="rect">
            <a:avLst/>
          </a:prstGeom>
          <a:noFill/>
        </p:spPr>
        <p:txBody>
          <a:bodyPr wrap="square">
            <a:spAutoFit/>
          </a:bodyPr>
          <a:lstStyle/>
          <a:p>
            <a:pPr algn="ctr" rtl="1"/>
            <a:r>
              <a:rPr sz="1200" b="0">
                <a:solidFill>
                  <a:srgbClr val="666666"/>
                </a:solidFill>
                <a:latin typeface="Amiri"/>
              </a:rPr>
              <a:t>مدير البرنامج الدولي - شركة النجاح الأكيد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